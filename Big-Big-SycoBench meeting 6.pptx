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9F1E4D-541E-AE45-833B-22AAF13CA3FD}" v="14" dt="2026-07-10T07:48:07.8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0"/>
  </p:normalViewPr>
  <p:slideViewPr>
    <p:cSldViewPr snapToGrid="0">
      <p:cViewPr>
        <p:scale>
          <a:sx n="125" d="100"/>
          <a:sy n="125" d="100"/>
        </p:scale>
        <p:origin x="232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he Ballon" userId="dfc4cace-81e3-4859-bcba-526184e0d1db" providerId="ADAL" clId="{1F968A1E-140D-572E-8A5E-12ACA280D7FC}"/>
    <pc:docChg chg="modSld">
      <pc:chgData name="Marthe Ballon" userId="dfc4cace-81e3-4859-bcba-526184e0d1db" providerId="ADAL" clId="{1F968A1E-140D-572E-8A5E-12ACA280D7FC}" dt="2026-07-10T07:48:07.865" v="13" actId="20577"/>
      <pc:docMkLst>
        <pc:docMk/>
      </pc:docMkLst>
      <pc:sldChg chg="modSp">
        <pc:chgData name="Marthe Ballon" userId="dfc4cace-81e3-4859-bcba-526184e0d1db" providerId="ADAL" clId="{1F968A1E-140D-572E-8A5E-12ACA280D7FC}" dt="2026-07-10T07:48:07.865" v="13" actId="20577"/>
        <pc:sldMkLst>
          <pc:docMk/>
          <pc:sldMk cId="691121532" sldId="264"/>
        </pc:sldMkLst>
        <pc:spChg chg="mod">
          <ac:chgData name="Marthe Ballon" userId="dfc4cace-81e3-4859-bcba-526184e0d1db" providerId="ADAL" clId="{1F968A1E-140D-572E-8A5E-12ACA280D7FC}" dt="2026-07-10T07:48:07.865" v="13" actId="20577"/>
          <ac:spMkLst>
            <pc:docMk/>
            <pc:sldMk cId="691121532" sldId="264"/>
            <ac:spMk id="3" creationId="{8F99F0C8-5DD9-5D7C-7A3E-5256DA111BF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E88DD-4052-4DE1-1560-6B950979A3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07F3D-4A2C-EF81-CACD-29B29B3DF0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E93C-42C9-DEBA-6E6E-554F7AFCA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38145-8FFD-A0C7-BBFF-FE3194B0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B17F-1D31-E019-4857-E38B904F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94853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1CD0-1929-47F9-A1A9-D7D23916E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87E27-210A-50FF-013C-FC7D3E17D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4B977-C9BC-A8D7-18B3-5A8CB887A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626A6-54A1-F300-CDEF-F9F780EF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5ECB9-D13B-73CF-32B7-FC8CA63B8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2321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B83CD-B3EE-FE77-7C75-67B20892A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D0FFBA-805C-1A2E-193D-D6558CC0A8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6D9EA-8B51-0DE2-3747-F015CFEE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E08A6-AB7F-F536-111D-717124975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3E257-7AF1-C4B9-626A-5BD5783A6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420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438E6-48B2-1E8F-853C-C71AE12EB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DF81C-6CD5-C39C-94A7-FC0CAB1F49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DA963-BB11-35B6-17B4-EA3302501F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DA62DD-87C7-F31D-366C-B9564943B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24526D-8452-180F-14F0-9D6A7654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B83C1-BCD6-3550-C2DF-8AACAF5D9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39771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9A045-CC9E-D755-0995-4FE419D94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D611F-C673-D130-DFC5-61F116905D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60B71-0762-1C92-8167-FDF3F757F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36AE58-280A-6367-AE93-3980874F0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E05FC4-4156-6B2E-D389-6B7E903382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A1B31-207B-DF44-D39D-77BCD6D11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D5F1C-EE1F-5A4C-5CCC-0D2C839FA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33623-BCF3-EA27-7EB3-2C119BFDC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7748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E3775-1B9E-37A9-DD97-082EAE673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F37C4-A588-A724-8354-C430DBF6E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D7B253-7A87-E270-6D13-CB3DE5D52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03D005-2637-F3F9-9FEC-9328B7A5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59305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B55618-A1E1-81BD-5ED3-AE957E2C3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E38B8C-1B8D-EBE6-4D2B-E1F3780F7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935C02-08B9-9A3F-AAB6-527D5F16F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69869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C9593-0B8F-700B-B1CE-28178A991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5B91E-912A-E42D-88A0-EDD9BB36A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BF430D-F5FD-6C03-D397-6891A0D3E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E4A3D-DCE0-69BE-42AB-B97A9172B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4026D9-7498-ADE2-D5D7-8559B6A9D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FEA11-3E08-0AD0-ACE7-BD5B9101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73437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77AE3-7A0E-7CF4-DEEA-1158EE1DA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91F87E-9DB6-1BE4-3E43-406D94BEA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0E69D3-45F6-017F-6625-73A039C5F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9EFE0-02C1-9265-6FED-C168A508B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7154E-E39C-EDF9-E4BE-973C0918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F4580B-6BA3-98BE-A476-29C967B3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87698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D59A-D5D3-68B7-D9D2-30F3877C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681F10-BBF7-FB3C-E427-12B19BDBF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03CE7-7F92-07A2-89FA-D095CE21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14A05-06E0-0681-AF28-FD0E60E8B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02DB8-0AD2-5401-3E7C-3A28FC4E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44700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FB91CA-44A8-30BB-B456-09BE6D6FE2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725D71-C36B-F723-00D7-EA6AB9228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F972D-4705-CBE5-5E11-37DDEB0E3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C5789-1558-83DC-75FD-7F28416D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0C477-B7F2-2DC4-72E9-C47915E5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01589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73EA57-3BAB-789A-BBDF-44214BE9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ECB1B-1783-11C5-60B9-ED3BCA6AA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4ABEC-8754-DE66-210B-EA12EEF99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73221-59C5-A945-9C23-241451B7463F}" type="datetimeFigureOut">
              <a:rPr lang="en-BE" smtClean="0"/>
              <a:t>08/07/2026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3EA5A-2DE9-80FC-A652-CF43D25109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01BFA-3576-4342-0262-C1DCB8D5B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26BAD2-1DB0-4D47-9D4F-77B411D518F2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1630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D40F-D449-1BBA-5762-4E6CA29B9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BE" dirty="0"/>
              <a:t>Big-Big-SycoBench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F43A-5CAA-E43E-FC34-E75A6B119F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BE" dirty="0"/>
              <a:t>Meeting 6</a:t>
            </a:r>
          </a:p>
        </p:txBody>
      </p:sp>
    </p:spTree>
    <p:extLst>
      <p:ext uri="{BB962C8B-B14F-4D97-AF65-F5344CB8AC3E}">
        <p14:creationId xmlns:p14="http://schemas.microsoft.com/office/powerpoint/2010/main" val="4081548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A59115-F71E-0C31-08F4-7A22ADE99F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4659" y="1120582"/>
            <a:ext cx="11442682" cy="461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6929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B6D2F-AD07-D803-9B1F-0CC4481E4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i="1" dirty="0"/>
              <a:t>1. The Benchmark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D83ED-DC55-B8D3-38A8-1733481057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BE" dirty="0"/>
              </a:p>
              <a:p>
                <a:pPr marL="0" indent="0">
                  <a:buNone/>
                </a:pPr>
                <a:r>
                  <a:rPr lang="en-GB" dirty="0"/>
                  <a:t>A</a:t>
                </a:r>
                <a:r>
                  <a:rPr lang="en-BE" dirty="0"/>
                  <a:t>rtefact	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=1,…,22</m:t>
                    </m:r>
                  </m:oMath>
                </a14:m>
                <a:endParaRPr lang="nl-BE" dirty="0"/>
              </a:p>
              <a:p>
                <a:pPr marL="0" indent="0">
                  <a:buNone/>
                </a:pPr>
                <a:r>
                  <a:rPr lang="en-GB" dirty="0"/>
                  <a:t>Argument	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=1,…,6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nl-BE" b="0" dirty="0"/>
                  <a:t>Direction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lit/>
                      </m:rPr>
                      <a:rPr lang="nl-BE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−1,1}</m:t>
                    </m:r>
                  </m:oMath>
                </a14:m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Argument quality (BT-score)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GB" dirty="0"/>
                  <a:t> 	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B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5DD83ED-DC55-B8D3-38A8-173348105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1EEB047-6A9E-F2B4-E151-16ABDD32D8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0921"/>
          <a:stretch>
            <a:fillRect/>
          </a:stretch>
        </p:blipFill>
        <p:spPr>
          <a:xfrm>
            <a:off x="8282983" y="1429501"/>
            <a:ext cx="2183190" cy="461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58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1B14-87E5-832E-C0CD-47D254474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Evaluating a model on our benchmark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9B5914-4603-C45C-B997-CCFF0A1EE6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BE" dirty="0"/>
                  <a:t>2. Initial scoring distribution</a:t>
                </a:r>
              </a:p>
              <a:p>
                <a:pPr marL="0" indent="0">
                  <a:buNone/>
                </a:pPr>
                <a:endParaRPr lang="en-BE" dirty="0"/>
              </a:p>
              <a:p>
                <a:pPr marL="0" indent="0">
                  <a:buNone/>
                </a:pPr>
                <a:r>
                  <a:rPr lang="en-BE" dirty="0"/>
                  <a:t>3. Rescoring distribution at turn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BE" dirty="0"/>
              </a:p>
              <a:p>
                <a:pPr marL="0" indent="0">
                  <a:buNone/>
                </a:pPr>
                <a:endParaRPr lang="en-BE" dirty="0"/>
              </a:p>
              <a:p>
                <a:pPr marL="0" indent="0">
                  <a:buNone/>
                </a:pPr>
                <a:r>
                  <a:rPr lang="en-BE" dirty="0"/>
                  <a:t>4. Compute weighted update probabilities</a:t>
                </a:r>
              </a:p>
              <a:p>
                <a:pPr marL="0" indent="0">
                  <a:buNone/>
                </a:pPr>
                <a:endParaRPr lang="en-BE" dirty="0"/>
              </a:p>
              <a:p>
                <a:pPr marL="0" indent="0">
                  <a:buNone/>
                </a:pPr>
                <a:r>
                  <a:rPr lang="en-BE" dirty="0"/>
                  <a:t>5. Aggregate them into final benchmark scores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𝑖𝑛𝑣𝑎𝑙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𝐴𝐷𝑆</m:t>
                    </m:r>
                  </m:oMath>
                </a14:m>
                <a:endParaRPr lang="en-B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9B5914-4603-C45C-B997-CCFF0A1EE6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5583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C0F9-FB40-AA7D-3BA8-63F6D8BF8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2. Initial scoring distribution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C5792C-DE11-02DD-5038-3FA9BD87FD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BE" dirty="0"/>
                  <a:t>For each run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BE" dirty="0"/>
                  <a:t>, the benchmarked model gives an initial quality score per artefact: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r>
                  <a:rPr lang="en-BE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C5792C-DE11-02DD-5038-3FA9BD87FD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257800" cy="4351338"/>
              </a:xfrm>
              <a:blipFill>
                <a:blip r:embed="rId2"/>
                <a:stretch>
                  <a:fillRect l="-2410" t="-2326" r="-2892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BA179282-F235-8C0A-3234-5EFDBF3B6D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647"/>
          <a:stretch>
            <a:fillRect/>
          </a:stretch>
        </p:blipFill>
        <p:spPr>
          <a:xfrm>
            <a:off x="6268832" y="1690688"/>
            <a:ext cx="4617471" cy="461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520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9174B82-89C2-E821-990C-DD24591B536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BE" dirty="0"/>
                  <a:t>3. Rescoring distribution at turn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BE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9174B82-89C2-E821-990C-DD24591B53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A054F1-48D9-A6F0-0C2F-930988DE5A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00538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BE" dirty="0"/>
                  <a:t>Per run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BE" dirty="0"/>
                  <a:t> we start a conversation with giving an argument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BE" dirty="0"/>
                  <a:t> at every turn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BE" dirty="0"/>
                  <a:t>, obtaining scores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</m:oMath>
                </a14:m>
                <a:endParaRPr lang="en-BE" dirty="0"/>
              </a:p>
              <a:p>
                <a:pPr marL="0" indent="0">
                  <a:buNone/>
                </a:pPr>
                <a:endParaRPr lang="en-BE" dirty="0"/>
              </a:p>
              <a:p>
                <a:pPr marL="0" indent="0">
                  <a:buNone/>
                </a:pPr>
                <a:r>
                  <a:rPr lang="nl-BE" b="0" dirty="0"/>
                  <a:t>Define delta’s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nl-BE" b="0" i="1" smtClean="0">
                        <a:latin typeface="Cambria Math" panose="02040503050406030204" pitchFamily="18" charset="0"/>
                      </a:rPr>
                      <m:t>:=</m:t>
                    </m:r>
                    <m:sSub>
                      <m:sSub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nl-BE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nl-BE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sSub>
                          <m:sSub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nl-BE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BE" dirty="0"/>
              </a:p>
              <a:p>
                <a:pPr marL="0" indent="0">
                  <a:buNone/>
                </a:pPr>
                <a:endParaRPr lang="en-BE" dirty="0"/>
              </a:p>
              <a:p>
                <a:pPr marL="0" indent="0">
                  <a:buNone/>
                </a:pPr>
                <a:r>
                  <a:rPr lang="en-BE" dirty="0"/>
                  <a:t>A delta counts as an update if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</m:sSub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nl-BE" b="0" i="1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BE" dirty="0"/>
              </a:p>
              <a:p>
                <a:pPr marL="0" indent="0">
                  <a:buNone/>
                </a:pPr>
                <a:endParaRPr lang="en-BE" dirty="0"/>
              </a:p>
              <a:p>
                <a:pPr marL="0" indent="0">
                  <a:buNone/>
                </a:pPr>
                <a:endParaRPr lang="en-B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A054F1-48D9-A6F0-0C2F-930988DE5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005383" cy="4351338"/>
              </a:xfrm>
              <a:blipFill>
                <a:blip r:embed="rId3"/>
                <a:stretch>
                  <a:fillRect l="-2110" t="-2326" r="-633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51B70AFE-B2B9-5678-C406-B11CDCF4C32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915" r="39669"/>
          <a:stretch>
            <a:fillRect/>
          </a:stretch>
        </p:blipFill>
        <p:spPr>
          <a:xfrm>
            <a:off x="6843583" y="1690688"/>
            <a:ext cx="4510217" cy="46168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5428E67-8889-E9D8-CB90-F4A007D00DDE}"/>
              </a:ext>
            </a:extLst>
          </p:cNvPr>
          <p:cNvSpPr txBox="1"/>
          <p:nvPr/>
        </p:nvSpPr>
        <p:spPr>
          <a:xfrm>
            <a:off x="11009870" y="2508422"/>
            <a:ext cx="494271" cy="1050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774C0D-0495-1C66-DFEC-9CECE6943B9D}"/>
              </a:ext>
            </a:extLst>
          </p:cNvPr>
          <p:cNvSpPr txBox="1"/>
          <p:nvPr/>
        </p:nvSpPr>
        <p:spPr>
          <a:xfrm>
            <a:off x="11106664" y="5651801"/>
            <a:ext cx="494271" cy="1050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825319-477A-5808-E005-C3E372EADC42}"/>
              </a:ext>
            </a:extLst>
          </p:cNvPr>
          <p:cNvSpPr txBox="1"/>
          <p:nvPr/>
        </p:nvSpPr>
        <p:spPr>
          <a:xfrm rot="5400000">
            <a:off x="10983096" y="3413534"/>
            <a:ext cx="494271" cy="1050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13841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E2E34-2A09-9B66-402E-C26C80C7F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4. Compute weighted update probabilities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99F0C8-5DD9-5D7C-7A3E-5256DA111B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4396945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BE" dirty="0"/>
                  <a:t>Updates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nl-BE" b="0" i="1" smtClean="0">
                        <a:latin typeface="Cambria Math" panose="02040503050406030204" pitchFamily="18" charset="0"/>
                      </a:rPr>
                      <m:t>=1[</m:t>
                    </m:r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nl-BE" b="0" i="0" smtClean="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r>
                      <a:rPr lang="nl-BE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BE" dirty="0"/>
              </a:p>
              <a:p>
                <a:pPr marL="0" indent="0">
                  <a:buNone/>
                </a:pPr>
                <a:endParaRPr lang="en-BE" dirty="0"/>
              </a:p>
              <a:p>
                <a:pPr>
                  <a:buFont typeface="Wingdings" pitchFamily="2" charset="2"/>
                  <a:buChar char="à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𝑝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𝑖𝑗</m:t>
                        </m:r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𝑘</m:t>
                        </m:r>
                      </m:sup>
                    </m:sSubSup>
                    <m:r>
                      <a:rPr lang="nl-BE" b="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f>
                      <m:fPr>
                        <m:ctrlPr>
                          <a:rPr lang="en-B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1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  <m:t>𝑅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BE" b="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naryPr>
                      <m:sub/>
                      <m:sup/>
                      <m:e>
                        <m:sSubSup>
                          <m:sSubSupPr>
                            <m:ctrlPr>
                              <a:rPr lang="nl-B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𝑢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𝑖𝑗</m:t>
                            </m:r>
                          </m:sub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𝑘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,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𝑟</m:t>
                            </m:r>
                          </m:sup>
                        </m:sSubSup>
                      </m:e>
                    </m:nary>
                  </m:oMath>
                </a14:m>
                <a:r>
                  <a:rPr lang="en-BE" dirty="0"/>
                  <a:t> update rate for argument </a:t>
                </a:r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BE" dirty="0"/>
              </a:p>
              <a:p>
                <a:pPr>
                  <a:buFont typeface="Wingdings" pitchFamily="2" charset="2"/>
                  <a:buChar char="à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BE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BE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  <a:r>
                  <a:rPr lang="en-BE" dirty="0"/>
                  <a:t> , </a:t>
                </a:r>
                <a14:m>
                  <m:oMath xmlns:m="http://schemas.openxmlformats.org/officeDocument/2006/math">
                    <m:r>
                      <a:rPr lang="nl-BE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nl-BE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nl-BE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BE" dirty="0"/>
              </a:p>
              <a:p>
                <a:pPr>
                  <a:buFont typeface="Wingdings" pitchFamily="2" charset="2"/>
                  <a:buChar char="à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𝑖𝑛𝑣𝑎𝑙</m:t>
                        </m:r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BE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sSubSup>
                              <m:sSubSup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  <m:sup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</m:e>
                        </m:nary>
                      </m:num>
                      <m:den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en-BE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sSub>
                              <m:sSub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den>
                    </m:f>
                    <m:r>
                      <a:rPr lang="nl-BE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nl-B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nl-B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nl-B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B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99F0C8-5DD9-5D7C-7A3E-5256DA111B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4396945" cy="4351338"/>
              </a:xfrm>
              <a:blipFill>
                <a:blip r:embed="rId2"/>
                <a:stretch>
                  <a:fillRect l="-2586" t="-872" r="-4023" b="-697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25CC0B5A-0DDD-74C0-FF5C-3D7D5C727D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23" r="18179"/>
          <a:stretch>
            <a:fillRect/>
          </a:stretch>
        </p:blipFill>
        <p:spPr>
          <a:xfrm>
            <a:off x="5235145" y="1690688"/>
            <a:ext cx="6956855" cy="461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21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78D4F-D0B4-B2C4-73C2-96F65C110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5. Aggregate over artefacts and compute ADS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D1A7B7-8CEC-EAC8-367A-C094BBB5E3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550243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𝑣𝑎𝑙</m:t>
                            </m:r>
                          </m:sub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BE" dirty="0"/>
                  <a:t> </a:t>
                </a:r>
              </a:p>
              <a:p>
                <a:pPr marL="0" indent="0">
                  <a:buNone/>
                </a:pPr>
                <a:r>
                  <a:rPr lang="en-BE" dirty="0"/>
                  <a:t>“probability to update on valid arguments”</a:t>
                </a:r>
              </a:p>
              <a:p>
                <a:pPr marL="0" indent="0">
                  <a:buNone/>
                </a:pPr>
                <a:endParaRPr lang="en-B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sub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bSup>
                          <m:sSubSup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𝑣𝑎𝑙</m:t>
                            </m:r>
                          </m:sub>
                          <m:sup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BE" dirty="0"/>
                  <a:t> </a:t>
                </a:r>
              </a:p>
              <a:p>
                <a:pPr marL="0" indent="0">
                  <a:buNone/>
                </a:pPr>
                <a:r>
                  <a:rPr lang="en-BE" dirty="0"/>
                  <a:t>“probability to update on invalid arguments”</a:t>
                </a:r>
              </a:p>
              <a:p>
                <a:pPr marL="0" indent="0">
                  <a:buNone/>
                </a:pPr>
                <a:endParaRPr lang="en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𝐴𝐷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=100</m:t>
                      </m:r>
                      <m:func>
                        <m:func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nl-BE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𝑣𝑎𝑙</m:t>
                              </m:r>
                            </m:sub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𝑖𝑛𝑣𝑎𝑙</m:t>
                              </m:r>
                            </m:sub>
                            <m:sup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b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,0)</m:t>
                          </m:r>
                          <m:r>
                            <m:rPr>
                              <m:nor/>
                            </m:rPr>
                            <a:rPr lang="en-BE" dirty="0"/>
                            <m:t> </m:t>
                          </m:r>
                        </m:e>
                      </m:func>
                    </m:oMath>
                  </m:oMathPara>
                </a14:m>
                <a:endParaRPr lang="en-BE" dirty="0"/>
              </a:p>
              <a:p>
                <a:pPr marL="0" indent="0">
                  <a:buNone/>
                </a:pPr>
                <a:endParaRPr lang="en-BE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D1A7B7-8CEC-EAC8-367A-C094BBB5E3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550243" cy="4351338"/>
              </a:xfrm>
              <a:blipFill>
                <a:blip r:embed="rId2"/>
                <a:stretch>
                  <a:fillRect l="-2283" t="-15698" r="-228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EAD27-967F-D221-1F81-9A6F3A32AE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8586"/>
          <a:stretch>
            <a:fillRect/>
          </a:stretch>
        </p:blipFill>
        <p:spPr>
          <a:xfrm>
            <a:off x="6614903" y="1690688"/>
            <a:ext cx="4738897" cy="461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812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9ABB9-8AFE-8C9A-073F-D8A1B1796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A37D5A-154C-0D8D-94BF-F178687EFD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474" y="597745"/>
            <a:ext cx="11113052" cy="566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702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32B05-6EE6-56D3-AE29-511F8275D2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3417A1-5097-0C58-6092-20776D98A7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8443" y="594711"/>
            <a:ext cx="8155113" cy="566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81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5DA28-061F-5899-68BD-F888DAE38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BE" dirty="0"/>
              <a:t>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E9B44-70BE-B291-51A6-2AA9C74D5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BE" dirty="0"/>
              <a:t>There are some stresstests necessary on the small sample</a:t>
            </a:r>
          </a:p>
          <a:p>
            <a:r>
              <a:rPr lang="en-BE" dirty="0"/>
              <a:t>Now we compute the probability that there is a shift, but not the magnitude </a:t>
            </a:r>
          </a:p>
          <a:p>
            <a:r>
              <a:rPr lang="en-BE" dirty="0"/>
              <a:t>There are different ways to aggregate the weights for multi-turn conversation</a:t>
            </a:r>
          </a:p>
          <a:p>
            <a:r>
              <a:rPr lang="en-BE" dirty="0"/>
              <a:t>Stress test the threshold with something proportional to the stdefv (so model dependent) and also the fixed boundary for more models than just o4-mini and gpt-5.5</a:t>
            </a:r>
          </a:p>
        </p:txBody>
      </p:sp>
    </p:spTree>
    <p:extLst>
      <p:ext uri="{BB962C8B-B14F-4D97-AF65-F5344CB8AC3E}">
        <p14:creationId xmlns:p14="http://schemas.microsoft.com/office/powerpoint/2010/main" val="3026954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8A1A4-5417-9233-14E3-DE40F185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261F5-116D-4B06-6021-6921CFC1E8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BE" dirty="0"/>
              <a:t>Arne, Andres, Francesca, Lynn, Melika, Marthe, Seorin, Vince, Vincent</a:t>
            </a:r>
          </a:p>
        </p:txBody>
      </p:sp>
    </p:spTree>
    <p:extLst>
      <p:ext uri="{BB962C8B-B14F-4D97-AF65-F5344CB8AC3E}">
        <p14:creationId xmlns:p14="http://schemas.microsoft.com/office/powerpoint/2010/main" val="1234540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2725</TotalTime>
  <Words>306</Words>
  <Application>Microsoft Macintosh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Cambria Math</vt:lpstr>
      <vt:lpstr>Wingdings</vt:lpstr>
      <vt:lpstr>Office Theme</vt:lpstr>
      <vt:lpstr>Big-Big-SycoBench</vt:lpstr>
      <vt:lpstr>PowerPoint Presentation</vt:lpstr>
      <vt:lpstr>1. The Benchmark</vt:lpstr>
      <vt:lpstr>Evaluating a model on our benchmark</vt:lpstr>
      <vt:lpstr>2. Initial scoring distribution</vt:lpstr>
      <vt:lpstr>3. Rescoring distribution at turn k</vt:lpstr>
      <vt:lpstr>4. Compute weighted update probabilities</vt:lpstr>
      <vt:lpstr>5. Aggregate over artefacts and compute ADS</vt:lpstr>
      <vt:lpstr>PowerPoint Presentation</vt:lpstr>
      <vt:lpstr>PowerPoint Presentation</vt:lpstr>
      <vt:lpstr>Tasks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Marthe Ballon</dc:creator>
  <cp:lastModifiedBy>Marthe Ballon</cp:lastModifiedBy>
  <cp:revision>1</cp:revision>
  <dcterms:created xsi:type="dcterms:W3CDTF">2026-07-08T10:22:49Z</dcterms:created>
  <dcterms:modified xsi:type="dcterms:W3CDTF">2026-07-10T07:48:15Z</dcterms:modified>
</cp:coreProperties>
</file>